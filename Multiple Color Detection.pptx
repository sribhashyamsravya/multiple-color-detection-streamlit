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3" r:id="rId16"/>
    <p:sldId id="259" r:id="rId17"/>
  </p:sldIdLst>
  <p:sldSz cx="12192000" cy="6858000"/>
  <p:notesSz cx="6858000" cy="9144000"/>
  <p:embeddedFontLst>
    <p:embeddedFont>
      <p:font typeface="Calibri" panose="020F0502020204030204"/>
      <p:regular r:id="rId21"/>
    </p:embeddedFont>
    <p:embeddedFont>
      <p:font typeface="Lato Black" panose="020F0802020204030203"/>
      <p:bold r:id="rId22"/>
      <p:boldItalic r:id="rId23"/>
    </p:embeddedFont>
    <p:embeddedFont>
      <p:font typeface="Libre Baskerville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521415D9-36F7-43E2-AB2F-B90AF26B5E84}">
      <p14:sectionLst xmlns:p14="http://schemas.microsoft.com/office/powerpoint/2010/main">
        <p14:section name="Default Section" id="{7e2da31b-1fb8-485d-b5f0-d4dbe3f0e4b1}">
          <p14:sldIdLst>
            <p14:sldId id="256"/>
            <p14:sldId id="257"/>
            <p14:sldId id="258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3"/>
          </p14:sldIdLst>
        </p14:section>
        <p14:section name="Untitled Section" id="{9f978a06-eaf3-482f-b54a-bc8fa4396f3f}">
          <p14:sldIdLst>
            <p14:sldId id="25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font" Target="fonts/font4.fntdata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</a:pPr>
          </a:p>
        </p:txBody>
      </p:sp>
      <p:sp>
        <p:nvSpPr>
          <p:cNvPr id="96" name="Google Shape;96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2" name="Google Shape;102;p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8" name="Google Shape;108;p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</a:p>
        </p:txBody>
      </p:sp>
      <p:sp>
        <p:nvSpPr>
          <p:cNvPr id="114" name="Google Shape;114;p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7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0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6" name="Google Shape;36;p8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11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58" name="Google Shape;58;p13"/>
          <p:cNvSpPr txBox="1"/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60" name="Google Shape;60;p13"/>
          <p:cNvSpPr txBox="1"/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14"/>
          <p:cNvSpPr txBox="1"/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5"/>
          <p:cNvSpPr/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/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15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6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6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6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1" name="Google Shape;11;p6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92" y="71755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95764" y="3620196"/>
            <a:ext cx="7246189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altLang="en-US" sz="4000" b="1" i="0" u="none" strike="noStrike" cap="none">
                <a:solidFill>
                  <a:srgbClr val="000000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Arial" panose="020B0604020202020204"/>
              </a:rPr>
              <a:t>Multiple Color Detection &amp; Object Center Tracking</a:t>
            </a:r>
            <a:endParaRPr lang="en-US" altLang="en-US" sz="4000" b="1" i="0" u="none" strike="noStrike" cap="none">
              <a:solidFill>
                <a:srgbClr val="000000"/>
              </a:solidFill>
              <a:latin typeface="Times New Roman" panose="02020603050405020304" charset="0"/>
              <a:ea typeface="Arial" panose="020B0604020202020204"/>
              <a:cs typeface="Times New Roman" panose="02020603050405020304" charset="0"/>
              <a:sym typeface="Arial" panose="020B0604020202020204"/>
            </a:endParaRPr>
          </a:p>
        </p:txBody>
      </p:sp>
      <p:sp>
        <p:nvSpPr>
          <p:cNvPr id="1" name="Text Box 0"/>
          <p:cNvSpPr txBox="1"/>
          <p:nvPr/>
        </p:nvSpPr>
        <p:spPr>
          <a:xfrm>
            <a:off x="8903970" y="5013325"/>
            <a:ext cx="2559685" cy="1336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1600" b="1"/>
              <a:t>Presented By: S. Sravya</a:t>
            </a:r>
            <a:endParaRPr lang="en-US" altLang="en-US" sz="1600" b="1"/>
          </a:p>
          <a:p>
            <a:endParaRPr lang="en-US" sz="1600"/>
          </a:p>
          <a:p>
            <a:r>
              <a:rPr lang="en-IN" altLang="en-US" sz="1600" b="1"/>
              <a:t>Batch No.</a:t>
            </a:r>
            <a:r>
              <a:rPr lang="en-IN" altLang="en-US" sz="1600"/>
              <a:t> </a:t>
            </a:r>
            <a:r>
              <a:rPr lang="en-IN" altLang="en-US" sz="1600" b="1"/>
              <a:t>: 450</a:t>
            </a:r>
            <a:endParaRPr lang="en-IN" altLang="en-US" sz="16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37870" y="1299210"/>
            <a:ext cx="9745345" cy="22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  <a:sym typeface="+mn-ea"/>
              </a:rPr>
              <a:t>I am </a:t>
            </a:r>
            <a:r>
              <a:rPr lang="en-IN">
                <a:latin typeface="Times New Roman" panose="02020603050405020304" charset="0"/>
                <a:cs typeface="Times New Roman" panose="02020603050405020304" charset="0"/>
                <a:sym typeface="+mn-ea"/>
              </a:rPr>
              <a:t>Sribhashyam </a:t>
            </a:r>
            <a:r>
              <a:rPr>
                <a:latin typeface="Times New Roman" panose="02020603050405020304" charset="0"/>
                <a:cs typeface="Times New Roman" panose="02020603050405020304" charset="0"/>
                <a:sym typeface="+mn-ea"/>
              </a:rPr>
              <a:t>Sravya, </a:t>
            </a:r>
            <a:r>
              <a:rPr lang="en-IN">
                <a:latin typeface="Times New Roman" panose="02020603050405020304" charset="0"/>
                <a:cs typeface="Times New Roman" panose="02020603050405020304" charset="0"/>
                <a:sym typeface="+mn-ea"/>
              </a:rPr>
              <a:t>I have completed my</a:t>
            </a:r>
            <a:r>
              <a:rPr>
                <a:latin typeface="Times New Roman" panose="02020603050405020304" charset="0"/>
                <a:cs typeface="Times New Roman" panose="02020603050405020304" charset="0"/>
                <a:sym typeface="+mn-ea"/>
              </a:rPr>
              <a:t> B.Tech CSE (AIML) student at Sphoorthy Engineering College. I am eager to learn Data Science because I want to analyze and solve real-world problems using technology. </a:t>
            </a:r>
            <a:endParaRPr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defRPr sz="2000">
                <a:solidFill>
                  <a:srgbClr val="323232"/>
                </a:solidFill>
              </a:defRPr>
            </a:pPr>
            <a:endParaRPr b="1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+mn-ea"/>
            </a:endParaRPr>
          </a:p>
          <a:p>
            <a:pPr>
              <a:defRPr sz="2000">
                <a:solidFill>
                  <a:srgbClr val="323232"/>
                </a:solidFill>
              </a:defRPr>
            </a:pPr>
            <a:endParaRPr b="1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lang="en-IN" b="1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Linkedin : </a:t>
            </a:r>
            <a:r>
              <a:rPr lang="en-US" altLang="en-US" b="1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https://www.linkedin.com/in/sribhashyam-sravya-268b4527b</a:t>
            </a:r>
            <a:endParaRPr lang="en-US" altLang="en-US" b="1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lang="en-IN" b="1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Github    : </a:t>
            </a:r>
            <a:r>
              <a:rPr lang="en-US" altLang="en-US" b="1" i="0" u="none" strike="noStrike" cap="none">
                <a:solidFill>
                  <a:schemeClr val="dk1"/>
                </a:solidFill>
                <a:latin typeface="Times New Roman" panose="02020603050405020304" charset="0"/>
                <a:ea typeface="Calibri" panose="020F0502020204030204"/>
                <a:cs typeface="Times New Roman" panose="02020603050405020304" charset="0"/>
                <a:sym typeface="Calibri" panose="020F0502020204030204"/>
              </a:rPr>
              <a:t>https://github.com/SribhashyamSravya</a:t>
            </a:r>
            <a:endParaRPr lang="en-US" altLang="en-US" b="1" i="0" u="none" strike="noStrike" cap="none">
              <a:solidFill>
                <a:schemeClr val="dk1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463" cy="483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 panose="020F0802020204030203"/>
              <a:buNone/>
            </a:pPr>
            <a:r>
              <a:rPr lang="en-IN" sz="3200" b="0" i="0" u="none" strike="noStrike" cap="none">
                <a:solidFill>
                  <a:srgbClr val="FF0000"/>
                </a:solidFill>
                <a:latin typeface="Times New Roman" panose="02020603050405020304" charset="0"/>
                <a:ea typeface="Lato Black" panose="020F0802020204030203"/>
                <a:cs typeface="Times New Roman" panose="02020603050405020304" charset="0"/>
                <a:sym typeface="Lato Black" panose="020F0802020204030203"/>
              </a:rPr>
              <a:t>About me</a:t>
            </a:r>
            <a:endParaRPr sz="1800" b="0" i="0" u="none" strike="noStrike" cap="none">
              <a:solidFill>
                <a:srgbClr val="FF0000"/>
              </a:solidFill>
              <a:latin typeface="Times New Roman" panose="02020603050405020304" charset="0"/>
              <a:ea typeface="Calibri" panose="020F0502020204030204"/>
              <a:cs typeface="Times New Roman" panose="02020603050405020304" charset="0"/>
              <a:sym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 panose="020F0502020204030204"/>
              <a:buNone/>
            </a:pPr>
            <a:r>
              <a:rPr lang="en-IN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Agenda  </a:t>
            </a:r>
            <a:endParaRPr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1" name="Google Shape;111;p4"/>
          <p:cNvSpPr txBox="1"/>
          <p:nvPr>
            <p:ph type="body" idx="1"/>
          </p:nvPr>
        </p:nvSpPr>
        <p:spPr>
          <a:xfrm>
            <a:off x="684880" y="1493134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  <a:defRPr sz="2000">
                <a:solidFill>
                  <a:srgbClr val="323232"/>
                </a:solidFill>
              </a:defRPr>
            </a:pPr>
            <a:r>
              <a:rPr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1.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Introduction &amp; Problem Statement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114300" indent="0">
              <a:buNone/>
              <a:defRPr sz="2000">
                <a:solidFill>
                  <a:srgbClr val="323232"/>
                </a:solidFill>
              </a:defRPr>
            </a:pPr>
            <a:r>
              <a:rPr lang="en-IN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2.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Objectives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114300" indent="0">
              <a:buNone/>
              <a:defRPr sz="2000">
                <a:solidFill>
                  <a:srgbClr val="323232"/>
                </a:solidFill>
              </a:defRPr>
            </a:pPr>
            <a:r>
              <a:rPr lang="en-IN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3.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Tools &amp; Technologies Used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114300" indent="0">
              <a:buNone/>
              <a:defRPr sz="2000">
                <a:solidFill>
                  <a:srgbClr val="323232"/>
                </a:solidFill>
              </a:defRPr>
            </a:pPr>
            <a:r>
              <a:rPr lang="en-IN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4.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System Architecture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114300" indent="0">
              <a:buNone/>
              <a:defRPr sz="2000">
                <a:solidFill>
                  <a:srgbClr val="323232"/>
                </a:solidFill>
              </a:defRPr>
            </a:pPr>
            <a:r>
              <a:rPr lang="en-IN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5.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Methodology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114300" indent="0">
              <a:buNone/>
              <a:defRPr sz="2000">
                <a:solidFill>
                  <a:srgbClr val="323232"/>
                </a:solidFill>
              </a:defRPr>
            </a:pPr>
            <a:r>
              <a:rPr lang="en-IN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6.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Object Center Tracking Logic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114300" indent="0">
              <a:buNone/>
              <a:defRPr sz="2000">
                <a:solidFill>
                  <a:srgbClr val="323232"/>
                </a:solidFill>
              </a:defRPr>
            </a:pPr>
            <a:r>
              <a:rPr lang="en-IN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7.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Web Application (Streamlit)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114300" indent="0">
              <a:buNone/>
              <a:defRPr sz="2000">
                <a:solidFill>
                  <a:srgbClr val="323232"/>
                </a:solidFill>
              </a:defRPr>
            </a:pPr>
            <a:r>
              <a:rPr lang="en-IN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8.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Results &amp; Applications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114300" indent="0">
              <a:buNone/>
              <a:defRPr sz="2000">
                <a:solidFill>
                  <a:srgbClr val="323232"/>
                </a:solidFill>
              </a:defRPr>
            </a:pPr>
            <a:r>
              <a:rPr lang="en-IN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9.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Conclusion &amp; Future Scope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114300" indent="0">
              <a:buNone/>
              <a:defRPr sz="2000">
                <a:solidFill>
                  <a:srgbClr val="323232"/>
                </a:solidFill>
              </a:defRPr>
            </a:pPr>
            <a:endParaRPr lang="en-IN" altLang="en-US" sz="2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altLang="en-US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Introduction &amp; Problem Statement</a:t>
            </a:r>
            <a:endParaRPr lang="en-US" altLang="en-US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>
            <a:normAutofit fontScale="90000" lnSpcReduction="20000"/>
          </a:bodyPr>
          <a:p>
            <a:pPr marL="114300" indent="0"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Introduction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Color detection is an important Computer Vision task used in automation and robotics.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114300" indent="0"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Problem Statement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Need to detect multiple colored objects in real-time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Track object center coordinates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Provide easy web-based interface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Ensure accurate and fast detection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altLang="en-US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Objectives</a:t>
            </a:r>
            <a:endParaRPr lang="en-US" altLang="en-US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Detect Red, Green, Blue, Yellow colors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Draw bounding box around detected objects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Calculate object center (X, Y coordinates)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Track object continuously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Deploy as web application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altLang="en-US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Tools &amp; Technologies Used</a:t>
            </a:r>
            <a:endParaRPr lang="en-US" altLang="en-US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>
            <a:normAutofit lnSpcReduction="10000"/>
          </a:bodyPr>
          <a:p>
            <a:pPr marL="114300" indent="0"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Programming Language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Python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114300" indent="0"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Libraries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OpenCV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NumPy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Streamlit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114300" indent="0"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Development &amp; Deployment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VS Code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GitHub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altLang="en-US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System Architecture</a:t>
            </a:r>
            <a:endParaRPr lang="en-US" altLang="en-US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558800" y="1371600"/>
            <a:ext cx="11099800" cy="5221605"/>
          </a:xfrm>
        </p:spPr>
        <p:txBody>
          <a:bodyPr>
            <a:normAutofit fontScale="70000"/>
          </a:bodyPr>
          <a:p>
            <a:pPr marL="114300" indent="0" algn="ctr"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Camera Input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114300" indent="0" algn="ctr"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⬇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114300" indent="0" algn="ctr"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Convert BGR → HSV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114300" indent="0" algn="ctr"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⬇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114300" indent="0" algn="ctr"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Color Mask Creation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114300" indent="0" algn="ctr"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⬇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114300" indent="0" algn="ctr"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Noise Removal (Dilation)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114300" indent="0" algn="ctr"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⬇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114300" indent="0" algn="ctr"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Contour Detection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114300" indent="0" algn="ctr"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⬇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114300" indent="0" algn="ctr"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Bounding Box + Center Calculation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114300" indent="0" algn="ctr"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⬇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114300" indent="0" algn="ctr"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Display in Web App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altLang="en-US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Methodology</a:t>
            </a:r>
            <a:endParaRPr lang="en-US" altLang="en-US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pPr marL="11430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1. Capture frame from webcam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11430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2. Convert image to HSV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11430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3. Define HSV color ranges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11430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4. Create mask using `cv2.inRange()`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11430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5. Detect contours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11430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6. Draw bounding box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11430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7. Calculate and mark center point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11430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8. Display results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altLang="en-US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Object Center Tracking Logic</a:t>
            </a:r>
            <a:endParaRPr lang="en-US" altLang="en-US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>
            <a:normAutofit lnSpcReduction="10000"/>
          </a:bodyPr>
          <a:p>
            <a:pPr marL="114300" indent="0"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After detecting contour: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114300" indent="0"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114300" indent="0"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114300" indent="0"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System displays: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Rectangle around object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White center point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Center coordinates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11430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This enables real-time object tracking.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1405" y="2348865"/>
            <a:ext cx="7210425" cy="12414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altLang="en-US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Web Application (Streamlit)</a:t>
            </a:r>
            <a:endParaRPr lang="en-US" altLang="en-US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pPr marL="114300" indent="0"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Features: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Start/Stop Camera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Real-time multi-color detection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Displays object center coordinates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Clean user interface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114300" indent="0"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Run using: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5550" y="4940935"/>
            <a:ext cx="7520940" cy="1203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altLang="en-US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Results &amp; Applications</a:t>
            </a:r>
            <a:endParaRPr lang="en-US" altLang="en-US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>
            <a:normAutofit fontScale="90000"/>
          </a:bodyPr>
          <a:p>
            <a:pPr marL="114300" indent="0"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Results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Accurate multi-color detection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Real-time tracking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Stable performance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114300" indent="0"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Applications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Industrial automation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Robotics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Traffic signal detection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Smart surveillance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IN" altLang="en-US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Results</a:t>
            </a:r>
            <a:endParaRPr lang="en-IN" altLang="en-US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370" y="1341120"/>
            <a:ext cx="4719955" cy="2557780"/>
          </a:xfrm>
          <a:prstGeom prst="rect">
            <a:avLst/>
          </a:prstGeom>
        </p:spPr>
      </p:pic>
      <p:pic>
        <p:nvPicPr>
          <p:cNvPr id="5" name="Picture 4" descr="colordect_img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7845" y="1268730"/>
            <a:ext cx="4270375" cy="2531110"/>
          </a:xfrm>
          <a:prstGeom prst="rect">
            <a:avLst/>
          </a:prstGeom>
        </p:spPr>
      </p:pic>
      <p:pic>
        <p:nvPicPr>
          <p:cNvPr id="6" name="Picture 5" descr="colordect_img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9920" y="4004945"/>
            <a:ext cx="4248785" cy="28079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altLang="en-US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Conclusion &amp; Future Scope</a:t>
            </a:r>
            <a:endParaRPr lang="en-US" altLang="en-US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>
            <a:normAutofit fontScale="90000"/>
          </a:bodyPr>
          <a:p>
            <a:pPr marL="114300" indent="0"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Successfully implemented real-time color detection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Added object center tracking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Converted to web application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114300" indent="0"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Future Enhancements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Add object counting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Add motion tracking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Improve lighting adaptability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Add dashboard analytics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2387</Words>
  <Application>WPS Presentation</Application>
  <PresentationFormat/>
  <Paragraphs>138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7" baseType="lpstr">
      <vt:lpstr>Arial</vt:lpstr>
      <vt:lpstr>SimSun</vt:lpstr>
      <vt:lpstr>Wingdings</vt:lpstr>
      <vt:lpstr>Arial</vt:lpstr>
      <vt:lpstr>Calibri</vt:lpstr>
      <vt:lpstr>Times New Roman</vt:lpstr>
      <vt:lpstr>Lato Black</vt:lpstr>
      <vt:lpstr>Noto Serif Medium</vt:lpstr>
      <vt:lpstr>Noto Serif</vt:lpstr>
      <vt:lpstr>Consolas</vt:lpstr>
      <vt:lpstr>Libre Baskerville</vt:lpstr>
      <vt:lpstr>Microsoft YaHei</vt:lpstr>
      <vt:lpstr>Arial Unicode MS</vt:lpstr>
      <vt:lpstr>Tempus Sans ITC</vt:lpstr>
      <vt:lpstr>Blackadder ITC</vt:lpstr>
      <vt:lpstr>Tw Cen MT Condensed</vt:lpstr>
      <vt:lpstr>Bodoni MT</vt:lpstr>
      <vt:lpstr>Bodoni MT Condensed</vt:lpstr>
      <vt:lpstr>TL-TTHemalatha</vt:lpstr>
      <vt:lpstr>Bodoni MT Poster Compressed</vt:lpstr>
      <vt:lpstr>Bookman Old Style</vt:lpstr>
      <vt:lpstr>Calibri</vt:lpstr>
      <vt:lpstr>Office Theme</vt:lpstr>
      <vt:lpstr>PowerPoint 演示文稿</vt:lpstr>
      <vt:lpstr>PowerPoint 演示文稿</vt:lpstr>
      <vt:lpstr>Agenda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Raghu Ram Aduri</dc:creator>
  <cp:lastModifiedBy>Sravya Sribhashyam</cp:lastModifiedBy>
  <cp:revision>6</cp:revision>
  <dcterms:created xsi:type="dcterms:W3CDTF">2025-10-14T09:11:00Z</dcterms:created>
  <dcterms:modified xsi:type="dcterms:W3CDTF">2026-03-04T07:43:04Z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5DC99C5C370C451D8C3B854BCD02DD27_13</vt:lpwstr>
  </property>
  <property fmtid="{D5CDD505-2E9C-101B-9397-08002B2CF9AE}" pid="3" name="KSOProductBuildVer">
    <vt:lpwstr>1033-12.2.0.23196</vt:lpwstr>
  </property>
</Properties>
</file>